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media/image2.emf" ContentType="image/x-emf"/>
  <Override PartName="/ppt/media/image6.emf" ContentType="image/x-emf"/>
  <Override PartName="/ppt/media/image3.emf" ContentType="image/x-emf"/>
  <Override PartName="/ppt/media/image4.emf" ContentType="image/x-emf"/>
  <Override PartName="/ppt/media/image5.emf" ContentType="image/x-emf"/>
  <Override PartName="/ppt/media/image7.emf" ContentType="image/x-emf"/>
  <Override PartName="/ppt/media/image11.emf" ContentType="image/x-emf"/>
  <Override PartName="/ppt/media/image8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3.emf" ContentType="image/x-emf"/>
  <Override PartName="/ppt/media/image14.emf" ContentType="image/x-emf"/>
  <Override PartName="/ppt/media/image15.emf" ContentType="image/x-emf"/>
  <Override PartName="/ppt/media/image16.emf" ContentType="image/x-emf"/>
  <Override PartName="/ppt/media/image17.emf" ContentType="image/x-emf"/>
  <Override PartName="/ppt/media/image18.emf" ContentType="image/x-emf"/>
  <Override PartName="/ppt/media/image19.emf" ContentType="image/x-emf"/>
  <Override PartName="/ppt/media/image20.emf" ContentType="image/x-emf"/>
  <Override PartName="/ppt/media/image21.emf" ContentType="image/x-emf"/>
  <Override PartName="/ppt/media/image22.emf" ContentType="image/x-emf"/>
  <Override PartName="/ppt/media/image23.emf" ContentType="image/x-e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E1A157-0DAB-49A7-A919-B36F5FFA72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C4C3673-D37B-4A1A-8B3D-E3BDE7A057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7C1F42-1A95-4215-9BA6-7A43201B9A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8CC66BF-EB08-4291-B081-0238D237E9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A8E6A9-49C1-45CD-A020-7620A6AE2E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4BDF49-9DB8-4418-8A05-4A84739A5D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E2A7A1-5819-4E7A-B567-2C3435BBC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36D1B5-7413-424D-A532-18649D804F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F27530-1C9E-4A0C-A646-C2170A839F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B90D35-A1FD-4682-B77F-8D96F5C362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A0FF9D-CECF-43B1-899E-8BE1E73A11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13CBEF0-38FC-48A8-80CF-1E0501A296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C2A33B-6026-4BA3-BCE9-7D0B52E983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emf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6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8.emf"/><Relationship Id="rId3" Type="http://schemas.openxmlformats.org/officeDocument/2006/relationships/image" Target="../media/image9.emf"/><Relationship Id="rId4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emf"/><Relationship Id="rId2" Type="http://schemas.openxmlformats.org/officeDocument/2006/relationships/image" Target="../media/image13.emf"/><Relationship Id="rId3" Type="http://schemas.openxmlformats.org/officeDocument/2006/relationships/image" Target="../media/image14.emf"/><Relationship Id="rId4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emf"/><Relationship Id="rId2" Type="http://schemas.openxmlformats.org/officeDocument/2006/relationships/image" Target="../media/image16.emf"/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6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emf"/><Relationship Id="rId2" Type="http://schemas.openxmlformats.org/officeDocument/2006/relationships/image" Target="../media/image21.emf"/><Relationship Id="rId3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emf"/><Relationship Id="rId2" Type="http://schemas.openxmlformats.org/officeDocument/2006/relationships/image" Target="../media/image23.emf"/><Relationship Id="rId3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2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140000" y="382680"/>
            <a:ext cx="3289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Auditing LLM Trading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4140000" y="927720"/>
            <a:ext cx="332280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Maksud Bhaldar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731520" y="1828800"/>
            <a:ext cx="8233200" cy="14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Bridging Theory and Market Reality with Ground Truth Tables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Research-oriented project presentation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Benchmarking • Risk • Calibration • Explainability • Trust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731520" y="5989320"/>
            <a:ext cx="2297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presentation • September 2026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3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94360" y="365760"/>
            <a:ext cx="283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Problem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621720" y="1024200"/>
            <a:ext cx="1545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motivation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1417320"/>
            <a:ext cx="10789200" cy="16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LLMs can generate plausible trading recommendations, but linguistic quality is not financial validity.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Traditional ML metrics such as accuracy and F1 do not capture profitability, drawdown, risk or reasoning quality.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research question: Can the trustworthiness of an LLM trading decision be measured systematically?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project evaluates every recommendation against realized market outcomes and multiple audit dimensions.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4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94360" y="365760"/>
            <a:ext cx="3132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Objectives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21720" y="1024200"/>
            <a:ext cx="876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Objectives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31520" y="1417320"/>
            <a:ext cx="1078920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Evaluate BUY / SELL / HOLD recommendations against future market outcomes.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Compare LLMs with conventional ML and deep-learning baselines.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Measure calibration and overconfidence using ECE, Brier score and reliability analysis.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Detect unsupported or hallucinated financial reasoning.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Validate reasoning against financial concepts such as CAPM, momentum, mean reversion and volatility.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 a measurable trust score for each recommendation.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5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94360" y="365760"/>
            <a:ext cx="3720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End-to-End Architecture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21720" y="1024200"/>
            <a:ext cx="150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731520" y="1417320"/>
            <a:ext cx="10789200" cy="50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1260000" y="1417320"/>
            <a:ext cx="9359280" cy="51044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6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94360" y="365760"/>
            <a:ext cx="3722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Ground Truth (GT) Table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21720" y="1024200"/>
            <a:ext cx="1291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GT methodology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31520" y="1417320"/>
            <a:ext cx="1078920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prediction becomes an auditable research record.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fields: Prediction ID, date, ticker, recommendation and model confidence.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Realized outcomes: 1D, 5D and 20D returns.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Risk/performance: maximum drawdown, Sharpe and Sortino.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Context: market regime and final TrustScore.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creates a common evaluation layer for heterogeneous models.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594360" y="365760"/>
            <a:ext cx="556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Multi-Dimensional Audit Framework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21720" y="1024200"/>
            <a:ext cx="134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Audit dimensions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731520" y="1417320"/>
            <a:ext cx="1078920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Calibration audit — Is confidence aligned with actual success probability?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Hallucination audit — Are financial claims supported by evidence?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Theory audit — Does reasoning agree with established financial relationships?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 audit — Does the recommendation violate exposure, drawdown or tail-risk constraints?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Explainability — Which inputs/features materially influence the decision?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Outcome audit — Did the recommendation translate into favorable risk-adjusted performance?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94360" y="365760"/>
            <a:ext cx="5173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Evaluation &amp; Quantitative Metrics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621720" y="1024200"/>
            <a:ext cx="686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Metrics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731520" y="1417320"/>
            <a:ext cx="10789200" cy="27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Performance: realized return, hit rate, Sharpe, Sortino and maximum drawdown.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Risk: Value at Risk (VaR), Conditional VaR, position-size risk and exposure risk.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Calibration: Expected Calibration Error (ECE), Brier score and reliability diagrams.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Explainability: SHAP and LIME analyses for model-driven decisions.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 context: compare behavior across Bull, Bear and Crash regimes.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principle: evaluate performance after costs and under time-series-safe validation when extending the benchmark.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0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94360" y="365760"/>
            <a:ext cx="660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Experimental Design &amp; Research Extensions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621720" y="1024200"/>
            <a:ext cx="1256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design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1417320"/>
            <a:ext cx="1078920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experiment: compare LLM recommendations with ML/DL models under the same market observations.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stronger study should use walk-forward evaluation and strict temporal leakage controls.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transaction costs, slippage and turnover to distinguish paper alpha from implementable alpha.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Extend from trade-level auditing to portfolio-level risk and correlated exposures.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adversarial / red-team agents to challenge investment theses.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counterfactual tests to measure decision sensitivity to changes in evidence and assumptions.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1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594360" y="365760"/>
            <a:ext cx="552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Expected Contribution &amp; Limitations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21720" y="1024200"/>
            <a:ext cx="1748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Scientific interpretation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731520" y="1417320"/>
            <a:ext cx="1078920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Contribution: a structured framework for auditing LLM trading decisions rather than judging them only by prediction accuracy.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Contribution: unified GT records connect model reasoning to realized financial outcomes.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Contribution: combines AI evaluation with financial risk, calibration and explainability.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Current limitation: the repository uses synthetic datasets, so results should not be interpreted as evidence of live-market profitability.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Important next step: independent reproduction with frozen protocols, real historical data and robust baselines.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3240000" y="347400"/>
            <a:ext cx="4929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Models, Mathematics &amp; Statistics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3960000" y="894600"/>
            <a:ext cx="332244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713160" y="1389960"/>
            <a:ext cx="1083420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— Quantitative Model &amp; Audit Methodology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the project converts predictions into measurable financial evidence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Models • Equations • Statistical metrics • Risk • Calibration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94360" y="347400"/>
            <a:ext cx="4460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Stack &amp; Research Roles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13160" y="1389960"/>
            <a:ext cx="10834200" cy="27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Trader — processes market context, news/text and produces </a:t>
            </a:r>
            <a:r>
              <a:rPr lang="en-US" sz="1700" b="0" u="none" strike="noStrike">
                <a:solidFill>
                  <a:schemeClr val="dk1"/>
                </a:solidFill>
                <a:effectLst/>
                <a:highlight>
                  <a:srgbClr val="EEEEEE"/>
                </a:highlight>
                <a:uFillTx/>
                <a:latin typeface="Calibri"/>
              </a:rPr>
              <a:t>BUY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/ </a:t>
            </a:r>
            <a:r>
              <a:rPr lang="en-US" sz="1700" b="0" u="none" strike="noStrike">
                <a:solidFill>
                  <a:schemeClr val="dk1"/>
                </a:solidFill>
                <a:effectLst/>
                <a:highlight>
                  <a:srgbClr val="EEEEEE"/>
                </a:highlight>
                <a:uFillTx/>
                <a:latin typeface="Calibri"/>
              </a:rPr>
              <a:t>SELL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/ </a:t>
            </a:r>
            <a:r>
              <a:rPr lang="en-US" sz="1700" b="0" u="none" strike="noStrike">
                <a:solidFill>
                  <a:schemeClr val="dk1"/>
                </a:solidFill>
                <a:effectLst/>
                <a:highlight>
                  <a:srgbClr val="EEEEEE"/>
                </a:highlight>
                <a:uFillTx/>
                <a:latin typeface="Calibri"/>
              </a:rPr>
              <a:t>HOLD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+ confidence.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XGBoost — gradient-boosted decision-tree baseline for structured financial features.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LSTM — recurrent sequence model for temporal dependencies in prices/features.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Transformer — self-attention model for time-series sequence modeling.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repository explicitly organizes these model families under models/llm, models/xgboost, models/lstm and models/transformer.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research question is not “which model is best?” but “which model is reliable across performance, risk, calibration and explainability?”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94360" y="347400"/>
            <a:ext cx="593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Financial Data → Mathematical Features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13160" y="1389960"/>
            <a:ext cx="10834200" cy="42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return: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 return: 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Rolling mean: 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Rolling volatility: 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Momentum: 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pipeline also uses volume, technical indicators, macro variables and sentiment-related features.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340000" y="1575720"/>
            <a:ext cx="799200" cy="4032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332440" y="2254680"/>
            <a:ext cx="906480" cy="444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254320" y="3060000"/>
            <a:ext cx="1164600" cy="4100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340000" y="3829680"/>
            <a:ext cx="1798920" cy="4892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224440" y="4635720"/>
            <a:ext cx="1554480" cy="4032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94360" y="347400"/>
            <a:ext cx="6359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XGBoost — Gradient Boosting Mathematics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13160" y="1389960"/>
            <a:ext cx="10834200" cy="30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 learner: a decision tree f</a:t>
            </a:r>
            <a:r>
              <a:rPr lang="en-US" sz="1700" b="0" u="none" strike="noStrike" baseline="-8000">
                <a:solidFill>
                  <a:schemeClr val="dk1"/>
                </a:solidFill>
                <a:effectLst/>
                <a:uFillTx/>
                <a:latin typeface="Calibri"/>
              </a:rPr>
              <a:t>k(x)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The ensemble prediction is additive: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 iteration t, the objective combines fit and regularization: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Typical tree regularization penalizes complexity: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useful here: strong tabular baseline, nonlinear interactions, fast inference and comparatively reproducible behavior.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Audit role: provides a structured-data benchmark against which LLM claims can be contextualized.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200000" y="1440000"/>
            <a:ext cx="804240" cy="410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080040" y="2372040"/>
            <a:ext cx="2198880" cy="326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079960" y="3111480"/>
            <a:ext cx="1483200" cy="4100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594360" y="347400"/>
            <a:ext cx="6872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LSTM &amp; Transformer — Sequence Mathematics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713160" y="1389960"/>
            <a:ext cx="10834200" cy="28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LSTM maintains a memory state through gates: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Transformer self-attention: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LSTM emphasizes recurrent memory; Transformer attention learns relationships across positions in the input sequence.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Both require strict temporal validation because randomly shuffling financial observations can create look-ahead leakage.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044080" y="1807200"/>
            <a:ext cx="2454840" cy="711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852280" y="3240000"/>
            <a:ext cx="2726640" cy="2487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594360" y="347400"/>
            <a:ext cx="595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Prediction → Ground Truth Mathematics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713160" y="1389960"/>
            <a:ext cx="10834200" cy="30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each prediction at time t, the auditor observes future realized returns: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                                                                                    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where h ∈ {1,5,20} days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Directional correctness can be defined as: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ndara"/>
                <a:ea typeface="Microsoft YaHei"/>
              </a:rPr>
              <a:t>Correct = 1[sign(predicted direction) = sign(R_{t,h})]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For a trading strategy, cumulative wealth is: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This creates the bridge between an AI statement made at t and the market outcome that became observable only after t.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777200" y="3189600"/>
            <a:ext cx="1268640" cy="633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780000" y="1800000"/>
            <a:ext cx="1027440" cy="189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680000" y="3189600"/>
            <a:ext cx="1194840" cy="4093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594360" y="347400"/>
            <a:ext cx="4321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 &amp; Risk Statistics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713160" y="1389960"/>
            <a:ext cx="10834200" cy="38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Annualized Sharpe: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Sortino replaces total volatility with downside deviation: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Maximum drawdown: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Value at Risk at confidence α: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Conditional VaR / Expected Shortfall: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Also evaluate cumulative/annualized return, volatility, hit rate, profit factor and turnover.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520000" y="1498320"/>
            <a:ext cx="1368360" cy="480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520000" y="2398320"/>
            <a:ext cx="1384200" cy="4806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495160" y="3060000"/>
            <a:ext cx="2003760" cy="4647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596320" y="3939840"/>
            <a:ext cx="1362600" cy="1990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520000" y="4639320"/>
            <a:ext cx="2075760" cy="2196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594360" y="347400"/>
            <a:ext cx="5457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Calibration, Drift &amp; Statistical Validity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713160" y="1389960"/>
            <a:ext cx="10834200" cy="39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the model reports confidence p</a:t>
            </a:r>
            <a:r>
              <a:rPr lang="en-US" sz="1700" b="0" u="none" strike="noStrike" baseline="-8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calibration asks whether outcomes occur with approximately probability p</a:t>
            </a:r>
            <a:r>
              <a:rPr lang="en-US" sz="1700" b="0" u="none" strike="noStrike" baseline="-8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Brier score: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Expected Calibration Error: 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Reliability diagram: compare predicted confidence with empirical frequency.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Drift can be studied by comparing reference and current feature/prediction distributions.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Research-grade extension: walk-forward validation, confidence intervals, bootstrap analysis and statistical significance tests.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Important: a high backtest return is not sufficient evidence of skill without leakage controls and multiple-testing awareness.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187360" y="1928880"/>
            <a:ext cx="1231560" cy="410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2160000" y="2880000"/>
            <a:ext cx="2773440" cy="420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94360" y="347400"/>
            <a:ext cx="5935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Explainability + Trust Score Mathematics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713160" y="1389960"/>
            <a:ext cx="1083420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SHAP decomposes a prediction into feature contributions: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LIME approximates a local model around one observation using an interpretable surrogate.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conceptual Trust Score combines independent audit dimensions: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Weights should be configurable and empirically validated; T is a model-risk indicator, not a guarantee of profitability.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project’s audit engine includes calibration, hallucination, theory, risk, consistency, drift and trust-score components.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521880" y="1800000"/>
            <a:ext cx="977040" cy="209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513960" y="3049200"/>
            <a:ext cx="4044960" cy="189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0320" cy="9000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594360" y="347400"/>
            <a:ext cx="4996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Statistical Research Interpretation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621720" y="960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Trading Audit • Quantitative research presentation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713160" y="1389960"/>
            <a:ext cx="10834200" cy="49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comparison should be multi-objective: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Economic value + risk-adjusted return + calibration + evidence quality + robustness + operational reliability.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92% confident BUY that wins 55% of the time is statistically and economically different from a genuinely calibrated 92% prediction.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strategy with high return but extreme drawdown may be inferior on a risk-adjusted basis.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model that performs only in one regime may have weak robustness despite strong aggregate results.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strongest next step is a reproducible walk-forward experiment using point-in-time real data, transaction costs, slippage and independent statistical validation.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Bottom line: the project evaluates whether an AI decision is not only correct, but quantitatively defensible and trustworthy.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8"/>
          <p:cNvSpPr/>
          <p:nvPr/>
        </p:nvSpPr>
        <p:spPr>
          <a:xfrm>
            <a:off x="0" y="0"/>
            <a:ext cx="12191040" cy="10872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594360" y="365760"/>
            <a:ext cx="1786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621720" y="1024200"/>
            <a:ext cx="8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Takeaway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731520" y="1417320"/>
            <a:ext cx="1078920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central idea is simple: an LLM should not be trusted merely because its explanation sounds convincing.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credible financial AI system needs measurable evidence, calibrated confidence, risk controls and reproducible evaluation.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project provides a strong foundation for an autonomous quant-research audit platform.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direction: Research Agent → Evidence Graph → Risk Engine → Execution Simulator → Audit Engine → Human-gated decision.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Repository: github.com/macbhaldar/llm-trading-audit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2026-09-09T18:53:59Z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